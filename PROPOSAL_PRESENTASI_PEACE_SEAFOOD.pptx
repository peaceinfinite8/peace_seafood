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Arial"/>
              </a:defRPr>
            </a:pPr>
            <a:r>
              <a:t>PROPOSAL DIGITALISASI OPERASIONAL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  <a:latin typeface="Arial"/>
              </a:defRPr>
            </a:pPr>
            <a:r>
              <a:t>GUDANG IKAN &amp; COLD STORAGE</a:t>
            </a:r>
          </a:p>
          <a:p>
            <a:pPr>
              <a:spcBef>
                <a:spcPts val="2000"/>
              </a:spcBef>
              <a:defRPr sz="1600">
                <a:solidFill>
                  <a:srgbClr val="AABEDC"/>
                </a:solidFill>
                <a:latin typeface="Arial"/>
              </a:defRPr>
            </a:pPr>
            <a:r>
              <a:t>Mencegah Kebocoran Finansial, Meningkatkan Akurasi Timbangan, &amp; Kontrol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Platform Sistem Terintegrasi: PEACE SEAFOOD</a:t>
            </a:r>
            <a:br/>
            <a:r>
              <a:t>Ditawarkan Oleh: Project Manager &amp; System Analyst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PENGANTAR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  <a:latin typeface="Arial"/>
              </a:defRPr>
            </a:pPr>
            <a:r>
              <a:t>Tantangan Klasik Gudang Ikan Tradisional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9184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Arial"/>
              </a:defRPr>
            </a:pPr>
            <a:r>
              <a:t>❌ Kebocoran Timbangan</a:t>
            </a:r>
          </a:p>
          <a:p>
            <a:pPr>
              <a:spcBef>
                <a:spcPts val="1500"/>
              </a:spcBef>
              <a:defRPr sz="1300">
                <a:solidFill>
                  <a:srgbClr val="212529"/>
                </a:solidFill>
                <a:latin typeface="Arial"/>
              </a:defRPr>
            </a:pPr>
            <a:r>
              <a:t>Pencatatan berat manual di kertas papan jalan rawan salah tulis, terkena air, atau sengaja dimanipulasi oleh oknum (Fraud).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3840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291840" cy="1371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43"/>
                </a:solidFill>
                <a:latin typeface="Arial"/>
              </a:defRPr>
            </a:pPr>
            <a:r>
              <a:t>❌ Buta Kapasitas Gudang</a:t>
            </a:r>
          </a:p>
          <a:p>
            <a:pPr>
              <a:spcBef>
                <a:spcPts val="1500"/>
              </a:spcBef>
              <a:defRPr sz="1300">
                <a:solidFill>
                  <a:srgbClr val="212529"/>
                </a:solidFill>
                <a:latin typeface="Arial"/>
              </a:defRPr>
            </a:pPr>
            <a:r>
              <a:t>Tidak tahu pasti sisa kapasitas ruang beku (Cold Storage) tanpa harus masuk secara fisik ke dalam ruangan pendingin.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3840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2011680"/>
            <a:ext cx="329184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❌ Keuangan Terlambat</a:t>
            </a:r>
          </a:p>
          <a:p>
            <a:pPr>
              <a:spcBef>
                <a:spcPts val="1500"/>
              </a:spcBef>
              <a:defRPr sz="1300">
                <a:solidFill>
                  <a:srgbClr val="212529"/>
                </a:solidFill>
                <a:latin typeface="Arial"/>
              </a:defRPr>
            </a:pPr>
            <a:r>
              <a:t>Laporan laba/rugi baru bisa diketahui di akhir bulan secara manual. Nota piutang sering terselip dan telat ditagih.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SOLUSI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  <a:latin typeface="Arial"/>
              </a:defRPr>
            </a:pPr>
            <a:r>
              <a:t>Digitalisasi Terintegrasi Bersama Peace Seafood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Arial"/>
              </a:defRPr>
            </a:pPr>
            <a:r>
              <a:t>Transformasi Total dari Kertas ke Sistem</a:t>
            </a:r>
          </a:p>
          <a:p>
            <a:pPr>
              <a:spcBef>
                <a:spcPts val="1200"/>
              </a:spcBef>
              <a:defRPr sz="1500" b="1">
                <a:solidFill>
                  <a:srgbClr val="06B6D4"/>
                </a:solidFill>
                <a:latin typeface="Arial"/>
              </a:defRPr>
            </a:pPr>
            <a:r>
              <a:t>• ⚖️ Integrasi Timbangan Riil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Penguncian data berat aktual langsung saat bongkar muat untuk mencegah manipulasi data.</a:t>
            </a:r>
          </a:p>
          <a:p>
            <a:pPr>
              <a:spcBef>
                <a:spcPts val="1200"/>
              </a:spcBef>
              <a:defRPr sz="1500" b="1">
                <a:solidFill>
                  <a:srgbClr val="06B6D4"/>
                </a:solidFill>
                <a:latin typeface="Arial"/>
              </a:defRPr>
            </a:pPr>
            <a:r>
              <a:t>• ❄️ Visibilitas Ruang Penyimpanan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Pemantauan visual kapasitas Cold Storage secara instan lewat layar komputer atau ponsel.</a:t>
            </a:r>
          </a:p>
          <a:p>
            <a:pPr>
              <a:spcBef>
                <a:spcPts val="1200"/>
              </a:spcBef>
              <a:defRPr sz="1500" b="1">
                <a:solidFill>
                  <a:srgbClr val="06B6D4"/>
                </a:solidFill>
                <a:latin typeface="Arial"/>
              </a:defRPr>
            </a:pPr>
            <a:r>
              <a:t>• 📊 Keuangan Otomatis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Arus kas, penjualan harian, sisa piutang, dan laba bersih langsung terhitung otomatis tanpa kalkulator manual.</a:t>
            </a:r>
          </a:p>
          <a:p>
            <a:pPr>
              <a:spcBef>
                <a:spcPts val="1200"/>
              </a:spcBef>
              <a:defRPr sz="1500" b="1">
                <a:solidFill>
                  <a:srgbClr val="06B6D4"/>
                </a:solidFill>
                <a:latin typeface="Arial"/>
              </a:defRPr>
            </a:pPr>
            <a:r>
              <a:t>• 🛡️ Akses Bertingkat Aman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Pembagian wewenang yang jelas antara Bos, Admin Kantor, dan Checker Lapangan.</a:t>
            </a:r>
          </a:p>
        </p:txBody>
      </p:sp>
      <p:pic>
        <p:nvPicPr>
          <p:cNvPr id="6" name="Picture 5" descr="01_dashboard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MODUL BOS - KEUANGAN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  <a:latin typeface="Arial"/>
              </a:defRPr>
            </a:pPr>
            <a:r>
              <a:t>Pantau Laba Bersih Setiap Hari Tanpa Ribet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Arial"/>
              </a:defRPr>
            </a:pPr>
            <a:r>
              <a:t>Visualisasi Arus Kas Premium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  <a:latin typeface="Arial"/>
              </a:defRPr>
            </a:pPr>
            <a:r>
              <a:t>Sistem menyediakan grafik khusus Waterfall Arus Kas untuk memudahkan Anda memahami perputaran uang di gudang secara visual: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Arial"/>
              </a:defRPr>
            </a:pPr>
            <a:r>
              <a:t>✔ Grafik Waterfall Interaktif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Menunjukkan detail kenaikan kas dari penjualan &amp; piutang, dikurangi pengeluaran operasional &amp; stok untuk menghasilkan Laba Bersih.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Arial"/>
              </a:defRPr>
            </a:pPr>
            <a:r>
              <a:t>✔ Komposisi Kas Masuk vs Keluar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Visualisasi pie/doughnut chart untuk memantau perbandingan kas secara harian.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Arial"/>
              </a:defRPr>
            </a:pPr>
            <a:r>
              <a:t>✔ Akses Eksklusif Bos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Data keuangan bersifat privat dan hanya bisa diakses oleh Pemilik Gudang serta Super Admin.</a:t>
            </a:r>
          </a:p>
        </p:txBody>
      </p:sp>
      <p:pic>
        <p:nvPicPr>
          <p:cNvPr id="6" name="Picture 5" descr="01_dashboard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MODUL GUDANG - STOK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  <a:latin typeface="Arial"/>
              </a:defRPr>
            </a:pPr>
            <a:r>
              <a:t>Pantau Kapasitas Cold Storage Secara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Arial"/>
              </a:defRPr>
            </a:pPr>
            <a:r>
              <a:t>Keamanan Stok dan Kapasitas Ruang</a:t>
            </a:r>
          </a:p>
          <a:p>
            <a:pPr>
              <a:spcBef>
                <a:spcPts val="1200"/>
              </a:spcBef>
              <a:defRPr sz="1400" b="1">
                <a:solidFill>
                  <a:srgbClr val="06B6D4"/>
                </a:solidFill>
                <a:latin typeface="Arial"/>
              </a:defRPr>
            </a:pPr>
            <a:r>
              <a:t>✔ Visual Gauge Real-Time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Melihat sisa kapasitas penyimpanan beku langsung lewat diagram melengkung tanpa harus masuk ke dalam gudang.</a:t>
            </a:r>
          </a:p>
          <a:p>
            <a:pPr>
              <a:spcBef>
                <a:spcPts val="1200"/>
              </a:spcBef>
              <a:defRPr sz="1400" b="1">
                <a:solidFill>
                  <a:srgbClr val="06B6D4"/>
                </a:solidFill>
                <a:latin typeface="Arial"/>
              </a:defRPr>
            </a:pPr>
            <a:r>
              <a:t>✔ Kapasitas Keamanan 5.000 kg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Batas ukur penyimpanan yang disesuaikan secara otomatis berdasarkan data aktual di dalam database.</a:t>
            </a:r>
          </a:p>
          <a:p>
            <a:pPr>
              <a:spcBef>
                <a:spcPts val="1200"/>
              </a:spcBef>
              <a:defRPr sz="1400" b="1">
                <a:solidFill>
                  <a:srgbClr val="06B6D4"/>
                </a:solidFill>
                <a:latin typeface="Arial"/>
              </a:defRPr>
            </a:pPr>
            <a:r>
              <a:t>✔ Peringatan Overcapacity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Indikator otomatis berganti warna menjadi MERAH apabila penyimpanan sudah terisi di atas 80% guna menghindari kerusakan stok.</a:t>
            </a:r>
          </a:p>
        </p:txBody>
      </p:sp>
      <p:pic>
        <p:nvPicPr>
          <p:cNvPr id="6" name="Picture 5" descr="02_cold_storage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KEMUDAHAN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  <a:latin typeface="Arial"/>
              </a:defRPr>
            </a:pPr>
            <a:r>
              <a:t>Antarmuka Checker Lapangan yang Super Ringkas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Arial"/>
              </a:defRPr>
            </a:pPr>
            <a:r>
              <a:t>Sederhana, Cepat, dan Akurat</a:t>
            </a:r>
          </a:p>
          <a:p>
            <a:pPr>
              <a:spcBef>
                <a:spcPts val="1200"/>
              </a:spcBef>
              <a:defRPr sz="1400" b="1">
                <a:solidFill>
                  <a:srgbClr val="F59E0B"/>
                </a:solidFill>
                <a:latin typeface="Arial"/>
              </a:defRPr>
            </a:pPr>
            <a:r>
              <a:t>✔ Didesain Khusus untuk HP/Tablet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Checker lapangan dapat langsung menginput data berat timbangan langsung dari area bongkar muat ikan menggunakan ponsel.</a:t>
            </a:r>
          </a:p>
          <a:p>
            <a:pPr>
              <a:spcBef>
                <a:spcPts val="1200"/>
              </a:spcBef>
              <a:defRPr sz="1400" b="1">
                <a:solidFill>
                  <a:srgbClr val="F59E0B"/>
                </a:solidFill>
                <a:latin typeface="Arial"/>
              </a:defRPr>
            </a:pPr>
            <a:r>
              <a:t>✔ Penguncian Berat Aktual (qty_actual)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Mengurangi celah manipulasi data berat barang masuk karena data langsung terkirim secara real-time.</a:t>
            </a:r>
          </a:p>
          <a:p>
            <a:pPr>
              <a:spcBef>
                <a:spcPts val="1200"/>
              </a:spcBef>
              <a:defRPr sz="1400" b="1">
                <a:solidFill>
                  <a:srgbClr val="F59E0B"/>
                </a:solidFill>
                <a:latin typeface="Arial"/>
              </a:defRPr>
            </a:pPr>
            <a:r>
              <a:t>✔ Minim Tombol &amp; Teks Besar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Meminimalisir kebingungan pekerja gudang beku yang kurang ramah terhadap teknologi.</a:t>
            </a:r>
          </a:p>
        </p:txBody>
      </p:sp>
      <p:pic>
        <p:nvPicPr>
          <p:cNvPr id="6" name="Picture 5" descr="03_checker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KEAMANAN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  <a:latin typeface="Arial"/>
              </a:defRPr>
            </a:pPr>
            <a:r>
              <a:t>Sistem Alarm: Cegah Kehabisan Stok &amp; Piutang Macet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Arial"/>
              </a:defRPr>
            </a:pPr>
            <a:r>
              <a:t>Sistem Proteksi Keuangan &amp; Stok</a:t>
            </a:r>
          </a:p>
          <a:p>
            <a:pPr>
              <a:spcBef>
                <a:spcPts val="1200"/>
              </a:spcBef>
              <a:defRPr sz="1400" b="1">
                <a:solidFill>
                  <a:srgbClr val="EF4444"/>
                </a:solidFill>
                <a:latin typeface="Arial"/>
              </a:defRPr>
            </a:pPr>
            <a:r>
              <a:t>✔ Peringatan Stok Menipis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Notifikasi instan otomatis berkedip MERAH jika persediaan jenis ikan tertentu berada di bawah batas aman agar segera reorder.</a:t>
            </a:r>
          </a:p>
          <a:p>
            <a:pPr>
              <a:spcBef>
                <a:spcPts val="1200"/>
              </a:spcBef>
              <a:defRPr sz="1400" b="1">
                <a:solidFill>
                  <a:srgbClr val="EF4444"/>
                </a:solidFill>
                <a:latin typeface="Arial"/>
              </a:defRPr>
            </a:pPr>
            <a:r>
              <a:t>✔ Pengingat Piutang Jatuh Tempo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Menghindari piutang pelanggan terselip. Sistem otomatis melacak tanggal tagihan dan memunculkan notifikasi jatuh tempo.</a:t>
            </a:r>
          </a:p>
          <a:p>
            <a:pPr>
              <a:spcBef>
                <a:spcPts val="1200"/>
              </a:spcBef>
              <a:defRPr sz="1400" b="1">
                <a:solidFill>
                  <a:srgbClr val="EF4444"/>
                </a:solidFill>
                <a:latin typeface="Arial"/>
              </a:defRPr>
            </a:pPr>
            <a:r>
              <a:t>✔ Mencegah Kerugian Finansial</a:t>
            </a:r>
          </a:p>
          <a:p>
            <a:pPr>
              <a:spcBef>
                <a:spcPts val="2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t>Menjaga perputaran kas gudang tetap sehat dan meminimalisir peluang hilangnya pelanggan karena stok kosong.</a:t>
            </a:r>
          </a:p>
        </p:txBody>
      </p:sp>
      <p:pic>
        <p:nvPicPr>
          <p:cNvPr id="6" name="Picture 5" descr="04_alert_kr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ESTETIKA &amp; KENYAMANAN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  <a:latin typeface="Arial"/>
              </a:defRPr>
            </a:pPr>
            <a:r>
              <a:t>User Experience Fleksibel: Light &amp; Dark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Operasional gudang beku sering kali berpencahayaan redup. Peace Seafood menyediakan fitur perubahan tema (Light/Dark Mode) yang otomatis merubah warna visual sistem secara instan demi kenyamanan mata dan visibilitas terbaik staf Anda di lapangan.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043"/>
                </a:solidFill>
                <a:latin typeface="Arial"/>
              </a:defRPr>
            </a:pPr>
            <a:r>
              <a:t>☀ LIGHT MODE (Tampilan Bersih &amp; Terang)</a:t>
            </a:r>
          </a:p>
        </p:txBody>
      </p:sp>
      <p:pic>
        <p:nvPicPr>
          <p:cNvPr id="7" name="Picture 6" descr="05_light_v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51206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2286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Arial"/>
              </a:defRPr>
            </a:pPr>
            <a:r>
              <a:t>🌙 DARK MODE (Nyaman di Lingkungan Redup Gudang)</a:t>
            </a:r>
          </a:p>
        </p:txBody>
      </p:sp>
      <p:pic>
        <p:nvPicPr>
          <p:cNvPr id="9" name="Picture 8" descr="05_light_v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651760"/>
            <a:ext cx="51206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Arial"/>
              </a:defRPr>
            </a:pPr>
            <a:r>
              <a:t>Mengapa Memilih Kami?</a:t>
            </a:r>
          </a:p>
          <a:p>
            <a:pPr>
              <a:spcBef>
                <a:spcPts val="15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Transirasi Bertahap Aman</a:t>
            </a:r>
          </a:p>
          <a:p>
            <a:pPr>
              <a:spcBef>
                <a:spcPts val="200"/>
              </a:spcBef>
              <a:defRPr sz="1200">
                <a:solidFill>
                  <a:srgbClr val="AABEDC"/>
                </a:solidFill>
                <a:latin typeface="Arial"/>
              </a:defRPr>
            </a:pPr>
            <a:r>
              <a:t>Sistem kertas manual berjalan paralel bersama sistem digital selama 1-2 minggu masa penyesuaian agar operasional tidak terganggu.</a:t>
            </a:r>
          </a:p>
          <a:p>
            <a:pPr>
              <a:spcBef>
                <a:spcPts val="15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Pelatihan Staf Lapangan</a:t>
            </a:r>
          </a:p>
          <a:p>
            <a:pPr>
              <a:spcBef>
                <a:spcPts val="200"/>
              </a:spcBef>
              <a:defRPr sz="1200">
                <a:solidFill>
                  <a:srgbClr val="AABEDC"/>
                </a:solidFill>
                <a:latin typeface="Arial"/>
              </a:defRPr>
            </a:pPr>
            <a:r>
              <a:t>Kami melatih petugas lapangan langsung di lokasi gudang hingga mereka mahir mencatat data di ponsel kurang dari 30 detik.</a:t>
            </a:r>
          </a:p>
          <a:p>
            <a:pPr>
              <a:spcBef>
                <a:spcPts val="15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Migrasi Data Cepat</a:t>
            </a:r>
          </a:p>
          <a:p>
            <a:pPr>
              <a:spcBef>
                <a:spcPts val="200"/>
              </a:spcBef>
              <a:defRPr sz="1200">
                <a:solidFill>
                  <a:srgbClr val="AABEDC"/>
                </a:solidFill>
                <a:latin typeface="Arial"/>
              </a:defRPr>
            </a:pPr>
            <a:r>
              <a:t>Seluruh data supplier, produk ikan beku, dan pembeli langganan Anda akan diimpor langsung oleh tim kami.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SAATNYA MENGUNCI</a:t>
            </a:r>
          </a:p>
          <a:p>
            <a:pPr>
              <a:spcBef>
                <a:spcPts val="5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KEBOCORAN FINANSIAL</a:t>
            </a:r>
          </a:p>
          <a:p>
            <a:pPr>
              <a:spcBef>
                <a:spcPts val="1000"/>
              </a:spcBef>
              <a:defRPr sz="1600">
                <a:solidFill>
                  <a:srgbClr val="AABEDC"/>
                </a:solidFill>
                <a:latin typeface="Arial"/>
              </a:defRPr>
            </a:pPr>
            <a:r>
              <a:t>DAN MEMBAWA GUDANG IKAN ANDA KE ERA DIGITAL MODERN.</a:t>
            </a:r>
          </a:p>
          <a:p>
            <a:br/>
            <a:pPr>
              <a:spcBef>
                <a:spcPts val="1500"/>
              </a:spcBef>
              <a:defRPr sz="1600" b="1">
                <a:solidFill>
                  <a:srgbClr val="06B6D4"/>
                </a:solidFill>
                <a:latin typeface="Arial"/>
              </a:defRPr>
            </a:pPr>
            <a:r>
              <a:t>Mari Jadwalkan Demo Langsung Hari Ini!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